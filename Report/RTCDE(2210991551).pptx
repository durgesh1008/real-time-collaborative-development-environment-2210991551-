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5" r:id="rId8"/>
    <p:sldId id="270" r:id="rId9"/>
    <p:sldId id="271" r:id="rId10"/>
    <p:sldId id="272" r:id="rId11"/>
    <p:sldId id="266" r:id="rId12"/>
    <p:sldId id="267" r:id="rId13"/>
    <p:sldId id="268" r:id="rId14"/>
    <p:sldId id="269" r:id="rId15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4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7CD60251-23E1-4B86-81C2-7A671137C22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807172-DF9D-4D5C-9A0A-DEE7941D28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Name of the faculty [Group: G00] [Sem:2nd]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4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5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8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0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4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6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1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2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25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27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8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3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31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3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33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 hasCustomPrompt="1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9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40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4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43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4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45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46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4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49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5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51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 hasCustomPrompt="1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 hasCustomPrompt="1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 hasCustomPrompt="1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59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60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63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6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65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66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69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7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71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 hasCustomPrompt="1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 hasCustomPrompt="1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 hasCustomPrompt="1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 hasCustomPrompt="1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 hasCustomPrompt="1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81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82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8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85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8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87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88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91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93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6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97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98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99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0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01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02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03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04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05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6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07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08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09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14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5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1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18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1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20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21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2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24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2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26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 hasCustomPrompt="1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32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33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34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5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36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37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38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39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40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41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42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43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44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49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50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5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53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55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56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5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59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6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61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64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65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6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6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68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6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70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71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7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7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74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7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76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7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 hasCustomPrompt="1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 hasCustomPrompt="1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2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83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84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85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6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87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88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89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90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91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92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193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94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195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96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 hasCustomPrompt="1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body" hasCustomPrompt="1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1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02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03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04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05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206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07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208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09" name="Picture 10" descr="LOGO.gif"/>
          <p:cNvPicPr/>
          <p:nvPr/>
        </p:nvPicPr>
        <p:blipFill>
          <a:blip r:embed="rId2"/>
          <a:srcRect b="10729"/>
          <a:stretch>
            <a:fillRect/>
          </a:stretch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10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1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endParaRPr>
            </a:p>
          </p:txBody>
        </p:sp>
        <p:pic>
          <p:nvPicPr>
            <p:cNvPr id="212" name="Picture 9" descr="LOGO.gif"/>
            <p:cNvPicPr/>
            <p:nvPr/>
          </p:nvPicPr>
          <p:blipFill>
            <a:blip r:embed="rId2"/>
            <a:srcRect b="10729"/>
            <a:stretch>
              <a:fillRect/>
            </a:stretch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13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endParaRPr>
            </a:p>
          </p:txBody>
        </p:sp>
      </p:grpSp>
      <p:pic>
        <p:nvPicPr>
          <p:cNvPr id="214" name="Picture 15" descr="logo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 hasCustomPrompt="1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body" hasCustomPrompt="1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hyperlink" Target="https://docs.sendgrid.com" TargetMode="External"/><Relationship Id="rId7" Type="http://schemas.openxmlformats.org/officeDocument/2006/relationships/hyperlink" Target="https://microsoft.github.io/monaco-editor/" TargetMode="External"/><Relationship Id="rId6" Type="http://schemas.openxmlformats.org/officeDocument/2006/relationships/hyperlink" Target="https://docs.agora.io" TargetMode="External"/><Relationship Id="rId5" Type="http://schemas.openxmlformats.org/officeDocument/2006/relationships/hyperlink" Target="https://socket.io/docs" TargetMode="External"/><Relationship Id="rId4" Type="http://schemas.openxmlformats.org/officeDocument/2006/relationships/hyperlink" Target="https://expressjs.com" TargetMode="External"/><Relationship Id="rId3" Type="http://schemas.openxmlformats.org/officeDocument/2006/relationships/hyperlink" Target="https://nodejs.org" TargetMode="External"/><Relationship Id="rId2" Type="http://schemas.openxmlformats.org/officeDocument/2006/relationships/hyperlink" Target="https://vitejs.dev/" TargetMode="External"/><Relationship Id="rId1" Type="http://schemas.openxmlformats.org/officeDocument/2006/relationships/hyperlink" Target="https://react.dev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/>
          <p:nvPr/>
        </p:nvSpPr>
        <p:spPr>
          <a:xfrm>
            <a:off x="0" y="840600"/>
            <a:ext cx="9143640" cy="60170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IN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Project Presentation of </a:t>
            </a:r>
            <a:r>
              <a:rPr lang="en-IN" b="1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IOHE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On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altLang="en-US" sz="4800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Real-Time Collaborative Development Environment</a:t>
            </a:r>
            <a:endParaRPr lang="en-US" altLang="en-US" sz="4800" dirty="0">
              <a:solidFill>
                <a:schemeClr val="dk1"/>
              </a:solidFill>
              <a:latin typeface="Times New Roman" panose="02020603050405020304"/>
              <a:ea typeface="Calibri" panose="020F0502020204030204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br>
              <a:rPr sz="2000" dirty="0"/>
            </a:br>
            <a:r>
              <a:rPr lang="en-IN" altLang="en-US" sz="2000" dirty="0" err="1">
                <a:solidFill>
                  <a:srgbClr val="000000"/>
                </a:solidFill>
                <a:latin typeface="Times New Roman" panose="02020603050405020304"/>
                <a:ea typeface="MS PGothic" panose="020B0600070205080204" charset="-128"/>
              </a:rPr>
              <a:t>Durgesh Kumar 2210991551</a:t>
            </a:r>
            <a:endParaRPr lang="en-US" sz="2000" dirty="0">
              <a:solidFill>
                <a:srgbClr val="000000"/>
              </a:solidFill>
              <a:latin typeface="Times New Roman" panose="02020603050405020304"/>
              <a:ea typeface="MS PGothic" panose="020B0600070205080204" charset="-128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MS PGothic" panose="020B0600070205080204" charset="-128"/>
              </a:rPr>
              <a:t>Supervised By: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/>
                <a:ea typeface="MS PGothic" panose="020B0600070205080204" charset="-128"/>
              </a:rPr>
              <a:t>Dr. </a:t>
            </a:r>
            <a:r>
              <a:rPr lang="en-IN" altLang="en-US" sz="2000" dirty="0">
                <a:solidFill>
                  <a:srgbClr val="000000"/>
                </a:solidFill>
                <a:latin typeface="Times New Roman" panose="02020603050405020304"/>
                <a:ea typeface="MS PGothic" panose="020B0600070205080204" charset="-128"/>
              </a:rPr>
              <a:t>Shikha</a:t>
            </a:r>
            <a:endParaRPr lang="en-US" sz="2000" dirty="0">
              <a:solidFill>
                <a:srgbClr val="000000"/>
              </a:solidFill>
              <a:latin typeface="Times New Roman" panose="02020603050405020304"/>
              <a:ea typeface="MS PGothic" panose="020B0600070205080204" charset="-128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  <a:ea typeface="MS PGothic" panose="020B0600070205080204" charset="-128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MS PGothic" panose="020B0600070205080204" charset="-128"/>
              </a:rPr>
              <a:t>Department of Computer Science and Engineering,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MS PGothic" panose="020B0600070205080204" charset="-128"/>
              </a:rPr>
              <a:t>Chitkara University, Punjab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50000"/>
              </a:lnSpc>
              <a:spcBef>
                <a:spcPts val="400"/>
              </a:spcBef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spcBef>
                <a:spcPts val="640"/>
              </a:spcBef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/>
          <p:nvPr/>
        </p:nvSpPr>
        <p:spPr>
          <a:xfrm>
            <a:off x="35064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DejaVu Sans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21D82352-9756-476F-A9CF-4775124B2ADF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  <a:ea typeface="MS PGothic" panose="020B0600070205080204" charset="-128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8" name="TextShape 2"/>
          <p:cNvSpPr/>
          <p:nvPr/>
        </p:nvSpPr>
        <p:spPr>
          <a:xfrm>
            <a:off x="164160" y="1109880"/>
            <a:ext cx="8838360" cy="5359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</a:pP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DejaVu Sans"/>
              </a:rPr>
              <a:t>2.1 Background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Lack of Instant Feedback</a:t>
            </a:r>
            <a:r>
              <a:rPr lang="en-US" altLang="en-US" sz="1600" dirty="0"/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collaboration often lacks the immediate feedback available in physical spaces, leading to team disconnection</a:t>
            </a:r>
            <a:r>
              <a:rPr lang="en-US" altLang="en-US" sz="1600" dirty="0"/>
              <a:t>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Over-dependence on AI</a:t>
            </a:r>
            <a:r>
              <a:rPr lang="en-US" altLang="en-US" sz="1600" dirty="0"/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editors either offer no help or too much AI assistance, which hinders students' logical skills and "hand practice".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transparent bidding mechanism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Platform Fragmentation</a:t>
            </a:r>
            <a:r>
              <a:rPr lang="en-US" altLang="en-US" sz="1600" dirty="0"/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integrated messaging forces users to switch between multiple platforms for coding and communication.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DejaVu Sans"/>
              </a:rPr>
              <a:t>Inefficient Troubleshooting: </a:t>
            </a:r>
            <a:r>
              <a:rPr lang="en-US" altLang="en-US" sz="160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DejaVu Sans"/>
              </a:rPr>
              <a:t>There is a lack of unified environments where real-time execution and team communication happen simultaneously</a:t>
            </a:r>
            <a:endParaRPr lang="en-US" alt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  <a:ea typeface="DejaVu Sans"/>
            </a:endParaRPr>
          </a:p>
          <a:p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  <a:ea typeface="DejaVu Sans"/>
            </a:endParaRPr>
          </a:p>
          <a:p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DejaVu Sans"/>
              </a:rPr>
              <a:t>2.2 Problem Statement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Develop a Unified Collaborative IDE</a:t>
            </a:r>
            <a:r>
              <a:rPr lang="en-US" altLang="en-US" sz="1600" dirty="0"/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MERN-stack platform that enables real-time code synchronization with built-in Chat and Voice tools</a:t>
            </a:r>
            <a:r>
              <a:rPr lang="en-US" altLang="en-US" sz="1600" dirty="0"/>
              <a:t>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Implement AI Activation Logic</a:t>
            </a:r>
            <a:r>
              <a:rPr lang="en-US" altLang="en-US" sz="1600" dirty="0"/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where AI assistance is locked and only triggers upon compilation failure to ensure independent learning.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automated permit notifications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Secure Multi-User Environment</a:t>
            </a:r>
            <a:r>
              <a:rPr lang="en-US" altLang="en-US" sz="1600" dirty="0"/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UUID-based rooms to facilitate secure, synchronized coding sessions and real-time audio interaction.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Foster Technical Discipline</a:t>
            </a:r>
            <a:r>
              <a:rPr lang="en-US" altLang="en-US" sz="1600" dirty="0"/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AI usage to troubleshooting to ensure users focus on developing logical reasoning and independent problem-solving skills.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90"/>
              </a:spcBef>
              <a:spcAft>
                <a:spcPts val="990"/>
              </a:spcAft>
            </a:pPr>
            <a:endParaRPr lang="en-US" alt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0" y="246960"/>
            <a:ext cx="7680600" cy="5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/>
                <a:ea typeface="DejaVu Sans"/>
              </a:rPr>
              <a:t>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/>
                <a:ea typeface="DejaVu Sans"/>
              </a:rPr>
              <a:t>Software and Hardware Requirement Specification</a:t>
            </a:r>
            <a:br>
              <a:rPr sz="3200" dirty="0"/>
            </a:b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118080" y="875052"/>
            <a:ext cx="8907840" cy="56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IN" sz="13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3.1 Methods</a:t>
            </a:r>
            <a:endParaRPr lang="en-IN" sz="13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/>
              <a:ea typeface="Calibri" panose="020F0502020204030204"/>
            </a:endParaRPr>
          </a:p>
          <a:p>
            <a:pPr marL="228600" indent="-228600" algn="just"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altLang="en-US" sz="1300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sym typeface="+mn-ea"/>
              </a:rPr>
              <a:t>Real-Time Collaborative Development Environment</a:t>
            </a:r>
            <a:r>
              <a:rPr lang="en-IN" altLang="en-US" sz="1300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sym typeface="+mn-ea"/>
              </a:rPr>
              <a:t> </a:t>
            </a:r>
            <a:r>
              <a:rPr lang="en-US" altLang="en-US" sz="130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is developed using Agile methodology , focusing on iterative development and constant testing of core modules. The project is structured into multiple sprints to implement real-time synchronization, integrated voice chat, and the conditional AI debugging engine. This continuous integration approach ensures the platform's reliability, security, and high-performance scalability. By maintaining this modular focus, the system effectively bridges the gap between independent learning and seamless remote collaboration.</a:t>
            </a:r>
            <a:endParaRPr lang="en-US" altLang="en-US" sz="1300" u="none" strike="noStrike" dirty="0">
              <a:solidFill>
                <a:schemeClr val="dk1"/>
              </a:solidFill>
              <a:effectLst/>
              <a:uFillTx/>
              <a:latin typeface="Times New Roman" panose="02020603050405020304"/>
              <a:ea typeface="Calibri" panose="020F0502020204030204"/>
            </a:endParaRPr>
          </a:p>
          <a:p>
            <a:pPr marL="228600" indent="-228600" algn="just"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13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3.2 Programming/Working Environment</a:t>
            </a:r>
            <a:endParaRPr lang="en-US" sz="1300" b="0" u="none" strike="noStrike" dirty="0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alt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Programming Language</a:t>
            </a:r>
            <a:r>
              <a:rPr lang="en-US" altLang="en-US" sz="130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: React.js (Vite) with Monaco Editor for high-performance code editing.</a:t>
            </a:r>
            <a:endParaRPr lang="en-US" altLang="en-US" sz="1300" u="none" strike="noStrike">
              <a:solidFill>
                <a:schemeClr val="dk1"/>
              </a:solidFill>
              <a:effectLst/>
              <a:uFillTx/>
              <a:latin typeface="Times New Roman" panose="02020603050405020304"/>
              <a:ea typeface="Calibri" panose="020F0502020204030204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alt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Backend</a:t>
            </a:r>
            <a:r>
              <a:rPr lang="en-IN" alt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 &amp; </a:t>
            </a:r>
            <a:r>
              <a:rPr lang="en-US" alt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Email Service </a:t>
            </a:r>
            <a:r>
              <a:rPr lang="en-US" altLang="en-US" sz="130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: Node.js and Express.js for server-side logic and safe code execution.</a:t>
            </a:r>
            <a:r>
              <a:rPr lang="en-IN" altLang="en-US" sz="130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S</a:t>
            </a:r>
            <a:r>
              <a:rPr lang="en-US" altLang="en-US" sz="130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endGrid API for secure and automated workspace invitation system.</a:t>
            </a:r>
            <a:endParaRPr lang="en-US" altLang="en-US" sz="1300" u="none" strike="noStrike">
              <a:solidFill>
                <a:schemeClr val="dk1"/>
              </a:solidFill>
              <a:effectLst/>
              <a:uFillTx/>
              <a:latin typeface="Times New Roman" panose="02020603050405020304"/>
              <a:ea typeface="Calibri" panose="020F0502020204030204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alt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Real-Time &amp; Voice</a:t>
            </a:r>
            <a:r>
              <a:rPr lang="en-US" altLang="en-US" sz="130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: Socket.io for bi-directional syncing and Agora RTC for audio communication.</a:t>
            </a:r>
            <a:endParaRPr lang="en-US" altLang="en-US" sz="1300" u="none" strike="noStrike">
              <a:solidFill>
                <a:schemeClr val="dk1"/>
              </a:solidFill>
              <a:effectLst/>
              <a:uFillTx/>
              <a:latin typeface="Times New Roman" panose="02020603050405020304"/>
              <a:ea typeface="Calibri" panose="020F0502020204030204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alt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AI Integration</a:t>
            </a:r>
            <a:r>
              <a:rPr lang="en-US" altLang="en-US" sz="130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: Grok AI for conditional error troubleshooting.</a:t>
            </a:r>
            <a:endParaRPr lang="en-US" altLang="en-US" sz="1300" u="none" strike="noStrike">
              <a:solidFill>
                <a:schemeClr val="dk1"/>
              </a:solidFill>
              <a:effectLst/>
              <a:uFillTx/>
              <a:latin typeface="Times New Roman" panose="02020603050405020304"/>
              <a:ea typeface="Calibri" panose="020F0502020204030204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alt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Architecture:</a:t>
            </a:r>
            <a:r>
              <a:rPr lang="en-US" altLang="en-US" sz="130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 Stateless Real-Time Client-Server Model.</a:t>
            </a:r>
            <a:endParaRPr lang="en-US" altLang="en-US" sz="1300" u="none" strike="noStrike">
              <a:solidFill>
                <a:schemeClr val="dk1"/>
              </a:solidFill>
              <a:effectLst/>
              <a:uFillTx/>
              <a:latin typeface="Times New Roman" panose="02020603050405020304"/>
              <a:ea typeface="Calibri" panose="020F0502020204030204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3.3 </a:t>
            </a:r>
            <a:r>
              <a:rPr lang="en-US" sz="13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Requirements to run the application</a:t>
            </a:r>
            <a:endParaRPr lang="en-US" sz="1300" b="0" u="none" strike="noStrike" dirty="0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IN" sz="1300" b="1"/>
              <a:t> Operating </a:t>
            </a:r>
            <a:r>
              <a:rPr lang="en-IN" sz="1300" b="1" dirty="0"/>
              <a:t>System:</a:t>
            </a:r>
            <a:r>
              <a:rPr lang="en-IN" sz="1300" dirty="0"/>
              <a:t> Windows 10 / Linux / MacOS</a:t>
            </a:r>
            <a:br>
              <a:rPr lang="en-IN" sz="1300" dirty="0"/>
            </a:br>
            <a:r>
              <a:rPr lang="en-IN" sz="1300"/>
              <a:t> </a:t>
            </a:r>
            <a:r>
              <a:rPr lang="en-IN" sz="1300" b="1"/>
              <a:t>RAM</a:t>
            </a:r>
            <a:r>
              <a:rPr lang="en-IN" sz="1300" b="1" dirty="0"/>
              <a:t>:</a:t>
            </a:r>
            <a:r>
              <a:rPr lang="en-IN" sz="1300" dirty="0"/>
              <a:t> Minimum 8GB</a:t>
            </a:r>
            <a:br>
              <a:rPr lang="en-IN" sz="1300" dirty="0"/>
            </a:br>
            <a:r>
              <a:rPr lang="en-IN" sz="1300"/>
              <a:t> </a:t>
            </a:r>
            <a:r>
              <a:rPr lang="en-IN" sz="1300" b="1"/>
              <a:t>Processor</a:t>
            </a:r>
            <a:r>
              <a:rPr lang="en-IN" sz="1300" b="1" dirty="0"/>
              <a:t>:</a:t>
            </a:r>
            <a:r>
              <a:rPr lang="en-IN" sz="1300" dirty="0"/>
              <a:t> Intel i5 or equivalent</a:t>
            </a:r>
            <a:br>
              <a:rPr lang="en-IN" sz="1300" dirty="0"/>
            </a:br>
            <a:r>
              <a:rPr lang="en-IN" sz="1300"/>
              <a:t> </a:t>
            </a:r>
            <a:r>
              <a:rPr lang="en-IN" sz="1300" b="1"/>
              <a:t>Software </a:t>
            </a:r>
            <a:r>
              <a:rPr lang="en-IN" sz="1300" b="1" dirty="0"/>
              <a:t>Dependencies:</a:t>
            </a:r>
            <a:r>
              <a:rPr lang="en-IN" sz="1300" dirty="0"/>
              <a:t> Node.js, </a:t>
            </a:r>
            <a:r>
              <a:rPr lang="en-IN" sz="1300" dirty="0" err="1"/>
              <a:t>npm</a:t>
            </a:r>
            <a:r>
              <a:rPr lang="en-IN" sz="1300" dirty="0"/>
              <a:t>, </a:t>
            </a:r>
            <a:r>
              <a:rPr lang="en-IN" sz="1300" dirty="0" err="1"/>
              <a:t>Supabase</a:t>
            </a:r>
            <a:r>
              <a:rPr lang="en-IN" sz="1300" dirty="0"/>
              <a:t> configuration, Clerk setup</a:t>
            </a:r>
            <a:br>
              <a:rPr lang="en-IN" sz="1300" dirty="0"/>
            </a:br>
            <a:r>
              <a:rPr lang="en-IN" sz="1300"/>
              <a:t> </a:t>
            </a:r>
            <a:r>
              <a:rPr lang="en-IN" sz="1300" b="1"/>
              <a:t>Browser</a:t>
            </a:r>
            <a:r>
              <a:rPr lang="en-IN" sz="1300" b="1" dirty="0"/>
              <a:t>:</a:t>
            </a:r>
            <a:r>
              <a:rPr lang="en-IN" sz="1300" dirty="0"/>
              <a:t> Latest versions of Chrome, Firefox, or Safari</a:t>
            </a:r>
            <a:endParaRPr lang="en-IN" sz="900" b="0" u="none" strike="noStrike" dirty="0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/>
          <p:nvPr/>
        </p:nvSpPr>
        <p:spPr>
          <a:xfrm>
            <a:off x="35064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DejaVu Sans"/>
              </a:rPr>
              <a:t>Keywords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2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E954CB02-ED6A-49F1-8128-1148FABE90FA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  <a:ea typeface="MS PGothic" panose="020B0600070205080204" charset="-128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3" name="TextShape 2"/>
          <p:cNvSpPr/>
          <p:nvPr/>
        </p:nvSpPr>
        <p:spPr>
          <a:xfrm>
            <a:off x="164160" y="1109880"/>
            <a:ext cx="8838360" cy="5359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2900" indent="-342900"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altLang="en-US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IDE, Real-time Synchronization, MERN Stack, Socket.io, Agora RTC, Voice Chat Integration, Conditional AI Debugging, Grok AI, Monaco Editor, Remote Pair Programming, Software Development Environment, Node.js Child Process, UUID-based Room Management, SendGrid Email Invitations, Technical Discipline, Independent Learning.</a:t>
            </a:r>
            <a:endParaRPr lang="en-US" alt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DejaVu Sans"/>
              </a:rPr>
              <a:t>		</a:t>
            </a:r>
            <a:r>
              <a:rPr lang="en-US" sz="1800" b="1" u="sng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Calibri" panose="020F0502020204030204"/>
              </a:rPr>
              <a:t>TECHNOLOGIES AND TOOLS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265430" y="1160145"/>
            <a:ext cx="8091805" cy="53428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altLang="en-US" sz="1600" b="1" dirty="0"/>
              <a:t>Real-Time Collaborative Development Environment</a:t>
            </a:r>
            <a:r>
              <a:rPr lang="en-IN" altLang="en-US" sz="1600" b="1" dirty="0"/>
              <a:t> </a:t>
            </a:r>
            <a:r>
              <a:rPr lang="en-US" altLang="en-US" sz="1600" dirty="0"/>
              <a:t>utilizes a cutting-edge tech stack to ensure high performance, security, and real-time collaboration.</a:t>
            </a:r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b="1" dirty="0"/>
              <a:t>React.js (Vite)</a:t>
            </a:r>
            <a:r>
              <a:rPr lang="en-US" altLang="en-US" sz="1600" dirty="0"/>
              <a:t>: Powering a responsive frontend and synchronized code editing via the Monaco Editor.</a:t>
            </a:r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b="1" dirty="0"/>
              <a:t>Socket.io</a:t>
            </a:r>
            <a:r>
              <a:rPr lang="en-US" altLang="en-US" sz="1600" dirty="0"/>
              <a:t>: Facilitates bi-directional, low-latency communication for real-time code and chat syncing.</a:t>
            </a:r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b="1" dirty="0"/>
              <a:t>Node.js &amp; Express</a:t>
            </a:r>
            <a:r>
              <a:rPr lang="en-US" altLang="en-US" sz="1600" dirty="0"/>
              <a:t>: Handles backend logic and secure multi-language code execution via child processes.</a:t>
            </a:r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b="1" dirty="0"/>
              <a:t>Agora RTC</a:t>
            </a:r>
            <a:r>
              <a:rPr lang="en-US" altLang="en-US" sz="1600" dirty="0"/>
              <a:t>: Provides high-quality, real-time voice chat within collaborative rooms.</a:t>
            </a:r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dirty="0"/>
              <a:t> </a:t>
            </a:r>
            <a:r>
              <a:rPr lang="en-US" altLang="en-US" sz="1600" b="1" dirty="0"/>
              <a:t>Grok AI</a:t>
            </a:r>
            <a:r>
              <a:rPr lang="en-US" altLang="en-US" sz="1600" dirty="0"/>
              <a:t>: Powers the Conditional AI Debugger, which unlocks mentorship only during compilation failures.</a:t>
            </a:r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b="1" dirty="0"/>
              <a:t>SendGrid API</a:t>
            </a:r>
            <a:r>
              <a:rPr lang="en-US" altLang="en-US" sz="1600" dirty="0"/>
              <a:t>: Manages the automated workspace invitation system via secure email delivery.</a:t>
            </a:r>
            <a:endParaRPr lang="en-US" altLang="en-US" sz="1600" dirty="0"/>
          </a:p>
          <a:p>
            <a:endParaRPr lang="en-US" sz="1600" dirty="0"/>
          </a:p>
          <a:p>
            <a:pPr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277" y="-119689"/>
            <a:ext cx="8229240" cy="1144800"/>
          </a:xfrm>
        </p:spPr>
        <p:txBody>
          <a:bodyPr/>
          <a:lstStyle/>
          <a:p>
            <a:r>
              <a:rPr lang="en-US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</a:t>
            </a:r>
            <a:endParaRPr lang="en-US" sz="18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8" y="1025111"/>
            <a:ext cx="8740878" cy="52675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" y="1024255"/>
            <a:ext cx="8740775" cy="5268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368" y="0"/>
            <a:ext cx="5485680" cy="913680"/>
          </a:xfrm>
        </p:spPr>
        <p:txBody>
          <a:bodyPr/>
          <a:lstStyle/>
          <a:p>
            <a:r>
              <a:rPr lang="en-US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</a:t>
            </a:r>
            <a:endParaRPr lang="en-US" sz="1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25" y="1144270"/>
            <a:ext cx="8594725" cy="5158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8026" y="0"/>
            <a:ext cx="5485680" cy="913680"/>
          </a:xfrm>
        </p:spPr>
        <p:txBody>
          <a:bodyPr/>
          <a:lstStyle/>
          <a:p>
            <a:r>
              <a:rPr lang="en-US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</a:t>
            </a:r>
            <a:endParaRPr lang="en-US" sz="1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" y="1189355"/>
            <a:ext cx="8757285" cy="5154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DejaVu Sans"/>
              </a:rPr>
              <a:t>   Future Scope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255905" y="913765"/>
            <a:ext cx="8534400" cy="5600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Real-Time Collaborative Development Environment</a:t>
            </a:r>
            <a:r>
              <a:rPr lang="en-IN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 </a:t>
            </a:r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aims to evolve from a collaborative editor into a comprehensive AI-driven development ecosystem with the following planned enhancements: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AI-Powered Code Optimization:</a:t>
            </a:r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 Beyond debugging, the AI will provide logic optimization suggestions to improve code efficiency and performance.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Automated Logic Flowcharts:</a:t>
            </a:r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 Integration of a module that automatically generates visual flowcharts from user-written code to help in better architectural understanding.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Integrated Video Conferencing:</a:t>
            </a:r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 Expanding from Agora-based voice chat to full high-definition video calls and screen sharing within the workspace.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Advanced Version Control:</a:t>
            </a:r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 Implementing a built-in "Git-like" history system allowing users to track changes and revert to previous code states seamlessly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.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Multi-user Pair-Programming Analytics:</a:t>
            </a:r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 An AI dashboard to analyze team collaboration patterns and provide insights into coding productivity.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45720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45720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DejaVu Sans"/>
              </a:rPr>
              <a:t>   Conclusion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103505" y="913765"/>
            <a:ext cx="8936990" cy="54279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altLang="en-US" sz="1600" dirty="0"/>
              <a:t>The evolution of the </a:t>
            </a:r>
            <a:r>
              <a:rPr lang="en-US" altLang="en-US" sz="1600" b="1" dirty="0"/>
              <a:t>Real-Time Collaborative Development Environment </a:t>
            </a:r>
            <a:r>
              <a:rPr lang="en-US" altLang="en-US" sz="1600" dirty="0"/>
              <a:t>represents a significant advancement in collaborative platforms. By bridging the gap between traditional editors and modern remote pair-programming needs, the system integrates real-time code synchronization, integrated voice communication, and an intelligent AI activation logic into a single web-based platform. It enables developers to collaborate with transparency, foster teamwork, and execute code with high precision.</a:t>
            </a:r>
            <a:endParaRPr lang="en-US" alt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altLang="en-US" sz="1600" dirty="0"/>
              <a:t>Built using the </a:t>
            </a:r>
            <a:r>
              <a:rPr lang="en-US" altLang="en-US" sz="1600" b="1" dirty="0"/>
              <a:t>MERN stack, Socket.io, and Agora RTC</a:t>
            </a:r>
            <a:r>
              <a:rPr lang="en-US" altLang="en-US" sz="1600" dirty="0"/>
              <a:t>, this environment provides a seamless and scalable experience with optimal performance and security. The platform not only simplifies the debugging process through its unique </a:t>
            </a:r>
            <a:r>
              <a:rPr lang="en-US" altLang="en-US" sz="1600" b="1" dirty="0"/>
              <a:t>Conditional AI Debugger</a:t>
            </a:r>
            <a:r>
              <a:rPr lang="en-US" altLang="en-US" sz="1600" dirty="0"/>
              <a:t> but also ensures that users retain their logical reasoning and "hand practice" by limiting AI assistance specifically to troubleshooting phases.</a:t>
            </a:r>
            <a:endParaRPr lang="en-US" altLang="en-US" sz="1600" dirty="0"/>
          </a:p>
          <a:p>
            <a:pPr algn="just"/>
            <a:endParaRPr lang="en-US" sz="1600" dirty="0"/>
          </a:p>
          <a:p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In summary, the </a:t>
            </a:r>
            <a:r>
              <a:rPr lang="en-US" altLang="en-US" sz="16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Real-Time Collaborative Development Environment</a:t>
            </a:r>
            <a:r>
              <a:rPr lang="en-US" altLang="en-US" sz="16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 is more than just a code editor; it is an integrated educational and collaborative ecosystem that promotes technical discipline and trust within development teams. With ongoing improvements like AI-driven code optimization and visual logic flowcharts, the platform is poised to become a true one-stop solution for intelligent and ubiquitous digital software management.</a:t>
            </a:r>
            <a:endParaRPr lang="en-US" alt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/>
                <a:ea typeface="DejaVu Sans"/>
              </a:rPr>
              <a:t>   Bibliography/References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118080" y="835626"/>
            <a:ext cx="8907840" cy="58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1500" b="1" dirty="0"/>
              <a:t>React (Official Documentation)</a:t>
            </a:r>
            <a:br>
              <a:rPr lang="en-IN" sz="1500" dirty="0"/>
            </a:br>
            <a:r>
              <a:rPr lang="en-IN" sz="1500" dirty="0"/>
              <a:t>Meta. </a:t>
            </a:r>
            <a:r>
              <a:rPr lang="en-IN" sz="1500" i="1" dirty="0"/>
              <a:t>React – A JavaScript Library for Building User Interfaces.</a:t>
            </a:r>
            <a:br>
              <a:rPr lang="en-IN" sz="1500" dirty="0"/>
            </a:br>
            <a:r>
              <a:rPr lang="en-IN" sz="1500" dirty="0">
                <a:hlinkClick r:id="rId1"/>
              </a:rPr>
              <a:t>https://react.dev</a:t>
            </a:r>
            <a:endParaRPr lang="en-IN" sz="1500" dirty="0"/>
          </a:p>
          <a:p>
            <a:r>
              <a:rPr lang="en-IN" sz="1500" b="1" dirty="0"/>
              <a:t>Vite (Official Documentation)</a:t>
            </a:r>
            <a:br>
              <a:rPr lang="en-IN" sz="1500" dirty="0"/>
            </a:br>
            <a:r>
              <a:rPr lang="en-IN" sz="1500" dirty="0"/>
              <a:t>Evan You. </a:t>
            </a:r>
            <a:r>
              <a:rPr lang="en-IN" sz="1500" i="1" dirty="0"/>
              <a:t>Vite – Next Generation Frontend Tooling.</a:t>
            </a:r>
            <a:br>
              <a:rPr lang="en-IN" sz="1500" dirty="0"/>
            </a:br>
            <a:r>
              <a:rPr lang="en-IN" sz="1500" dirty="0">
                <a:hlinkClick r:id="rId2"/>
              </a:rPr>
              <a:t>https://vitejs.dev</a:t>
            </a:r>
            <a:endParaRPr lang="en-IN" sz="1500" dirty="0"/>
          </a:p>
          <a:p>
            <a:r>
              <a:rPr lang="en-US" altLang="en-US" sz="1500" b="1" dirty="0"/>
              <a:t>Node.js (Official Documentation)</a:t>
            </a:r>
            <a:br>
              <a:rPr lang="en-IN" sz="1500" dirty="0"/>
            </a:br>
            <a:r>
              <a:rPr lang="en-US" altLang="en-US" sz="1500" dirty="0"/>
              <a:t>OpenJS Foundation. Node.js – JavaScript runtime built on Chrome's V8 engine.</a:t>
            </a:r>
            <a:endParaRPr lang="en-US" altLang="en-US" sz="1500" dirty="0"/>
          </a:p>
          <a:p>
            <a:r>
              <a:rPr lang="en-US" altLang="en-US" sz="1500" dirty="0">
                <a:hlinkClick r:id="rId3" tooltip="" action="ppaction://hlinkfile"/>
              </a:rPr>
              <a:t>https://nodejs.org</a:t>
            </a:r>
            <a:endParaRPr lang="en-US" altLang="en-US" sz="1500" dirty="0"/>
          </a:p>
          <a:p>
            <a:r>
              <a:rPr lang="en-US" altLang="en-US" sz="1500" b="1" dirty="0"/>
              <a:t>Express.js (Official Documentation)</a:t>
            </a:r>
            <a:br>
              <a:rPr lang="en-IN" sz="1500" dirty="0"/>
            </a:br>
            <a:r>
              <a:rPr lang="en-US" altLang="en-US" sz="1500" dirty="0"/>
              <a:t>OpenJS Foundation. Express – Fast, unopinionated, minimalist web framework for Node.js</a:t>
            </a:r>
            <a:r>
              <a:rPr lang="en-IN" sz="1500" dirty="0"/>
              <a:t>.</a:t>
            </a:r>
            <a:br>
              <a:rPr lang="en-IN" sz="1500" dirty="0"/>
            </a:br>
            <a:r>
              <a:rPr lang="en-IN" sz="1500" dirty="0">
                <a:hlinkClick r:id="rId4" tooltip="" action="ppaction://hlinkfile"/>
              </a:rPr>
              <a:t>https://expressjs.com</a:t>
            </a:r>
            <a:endParaRPr lang="en-IN" sz="1500" dirty="0"/>
          </a:p>
          <a:p>
            <a:r>
              <a:rPr lang="en-US" altLang="en-US" sz="1500" b="1" dirty="0"/>
              <a:t>Socket.io (Documentation)</a:t>
            </a:r>
            <a:r>
              <a:rPr lang="en-US" altLang="en-US" sz="1500" dirty="0"/>
              <a:t>: </a:t>
            </a:r>
            <a:endParaRPr lang="en-US" altLang="en-US" sz="1500" dirty="0"/>
          </a:p>
          <a:p>
            <a:r>
              <a:rPr lang="en-US" altLang="en-US" sz="1500" dirty="0"/>
              <a:t>Socket.io – Bidirectional and low-latency communication for real-time applications.</a:t>
            </a:r>
            <a:br>
              <a:rPr lang="en-IN" sz="1500" dirty="0"/>
            </a:br>
            <a:r>
              <a:rPr lang="en-IN" sz="1500" dirty="0">
                <a:hlinkClick r:id="rId5" tooltip="" action="ppaction://hlinkfile"/>
              </a:rPr>
              <a:t>https://socket.io/docs</a:t>
            </a:r>
            <a:endParaRPr lang="en-IN" sz="1500" dirty="0">
              <a:hlinkClick r:id="rId5" tooltip="" action="ppaction://hlinkfile"/>
            </a:endParaRPr>
          </a:p>
          <a:p>
            <a:r>
              <a:rPr lang="en-US" altLang="en-US" sz="1500" b="1" dirty="0"/>
              <a:t>Agora RTC SDK: </a:t>
            </a:r>
            <a:endParaRPr lang="en-US" altLang="en-US" sz="1500" b="1" dirty="0"/>
          </a:p>
          <a:p>
            <a:r>
              <a:rPr lang="en-US" altLang="en-US" sz="1500" dirty="0"/>
              <a:t>Agora.io. Real-Time Engagement Platform for Voice and Video.</a:t>
            </a:r>
            <a:br>
              <a:rPr lang="en-IN" sz="1500" dirty="0"/>
            </a:br>
            <a:r>
              <a:rPr lang="en-IN" sz="1500" dirty="0">
                <a:hlinkClick r:id="rId6" tooltip="" action="ppaction://hlinkfile"/>
              </a:rPr>
              <a:t>https://docs.agora.io</a:t>
            </a:r>
            <a:endParaRPr lang="en-IN" sz="1500" dirty="0"/>
          </a:p>
          <a:p>
            <a:r>
              <a:rPr lang="en-US" altLang="en-US" sz="1500" b="1" dirty="0"/>
              <a:t>Monaco Editor:</a:t>
            </a:r>
            <a:r>
              <a:rPr lang="en-US" altLang="en-US" sz="1500" dirty="0"/>
              <a:t> </a:t>
            </a:r>
            <a:endParaRPr lang="en-US" altLang="en-US" sz="1500" dirty="0"/>
          </a:p>
          <a:p>
            <a:r>
              <a:rPr lang="en-US" altLang="en-US" sz="1500" dirty="0"/>
              <a:t>Microsoft. The code editor that powers VS Code.</a:t>
            </a:r>
            <a:br>
              <a:rPr lang="en-IN" sz="1500" dirty="0"/>
            </a:br>
            <a:r>
              <a:rPr lang="en-IN" sz="1500" dirty="0">
                <a:hlinkClick r:id="rId7" tooltip="" action="ppaction://hlinkfile"/>
              </a:rPr>
              <a:t>https://expressjs.com</a:t>
            </a:r>
            <a:endParaRPr lang="en-IN" sz="1500" dirty="0"/>
          </a:p>
          <a:p>
            <a:r>
              <a:rPr lang="en-US" altLang="en-US" sz="1500" b="1" dirty="0"/>
              <a:t>SendGrid API: </a:t>
            </a:r>
            <a:endParaRPr lang="en-US" altLang="en-US" sz="1500" b="1" dirty="0"/>
          </a:p>
          <a:p>
            <a:r>
              <a:rPr lang="en-US" altLang="en-US" sz="1500" dirty="0"/>
              <a:t>Twilio SendGrid. Email Delivery Service for automated invitations</a:t>
            </a:r>
            <a:r>
              <a:rPr lang="en-IN" sz="1500" dirty="0"/>
              <a:t>.</a:t>
            </a:r>
            <a:endParaRPr lang="en-IN" sz="1500" dirty="0"/>
          </a:p>
          <a:p>
            <a:r>
              <a:rPr lang="en-IN" sz="1500" dirty="0">
                <a:hlinkClick r:id="rId8" tooltip="" action="ppaction://hlinkfile"/>
              </a:rPr>
              <a:t>https://docs.sendgrid.com</a:t>
            </a:r>
            <a:endParaRPr lang="en-IN" sz="1500" dirty="0"/>
          </a:p>
          <a:p>
            <a:pPr defTabSz="914400">
              <a:lnSpc>
                <a:spcPct val="100000"/>
              </a:lnSpc>
              <a:tabLst>
                <a:tab pos="457200" algn="l"/>
              </a:tabLst>
            </a:pP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Shape 1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5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/>
                <a:ea typeface="DejaVu Sans"/>
              </a:rPr>
              <a:t>Thank You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8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E19D697E-C37C-41BD-90BD-A4D3EF4BFD80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  <a:ea typeface="MS PGothic" panose="020B0600070205080204" charset="-128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7248</Words>
  <Application>WPS Presentation</Application>
  <PresentationFormat>On-screen Show (4:3)</PresentationFormat>
  <Paragraphs>118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Symbol</vt:lpstr>
      <vt:lpstr>Times New Roman</vt:lpstr>
      <vt:lpstr>Calibri</vt:lpstr>
      <vt:lpstr>MS PGothic</vt:lpstr>
      <vt:lpstr>DejaVu Sans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 Software and Hardware Requirement Specification </vt:lpstr>
      <vt:lpstr>PowerPoint 演示文稿</vt:lpstr>
      <vt:lpstr>		TECHNOLOGIES AND TOOLS</vt:lpstr>
      <vt:lpstr>VISUAL REPRESENTATION</vt:lpstr>
      <vt:lpstr>VISUAL REPRESENTATION</vt:lpstr>
      <vt:lpstr>VISUAL REPRESENTATION</vt:lpstr>
      <vt:lpstr>   Future Scope</vt:lpstr>
      <vt:lpstr>   Conclusion</vt:lpstr>
      <vt:lpstr>   Bibliography/References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Durgesh Chaudhary</cp:lastModifiedBy>
  <cp:revision>2336</cp:revision>
  <cp:lastPrinted>2026-04-24T08:34:00Z</cp:lastPrinted>
  <dcterms:created xsi:type="dcterms:W3CDTF">2010-04-09T07:36:00Z</dcterms:created>
  <dcterms:modified xsi:type="dcterms:W3CDTF">2026-04-27T07:28:53Z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0x010100096F1BF43DDE004485E7A868D137D60A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13</vt:i4>
  </property>
  <property fmtid="{D5CDD505-2E9C-101B-9397-08002B2CF9AE}" pid="12" name="ICV">
    <vt:lpwstr>F103C5A73488480F9118FC3952738F73_13</vt:lpwstr>
  </property>
  <property fmtid="{D5CDD505-2E9C-101B-9397-08002B2CF9AE}" pid="13" name="KSOProductBuildVer">
    <vt:lpwstr>1033-12.2.0.23201</vt:lpwstr>
  </property>
</Properties>
</file>